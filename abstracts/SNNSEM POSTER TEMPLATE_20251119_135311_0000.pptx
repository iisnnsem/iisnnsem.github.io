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32385000" cy="43192700"/>
  <p:notesSz cx="6858000" cy="9144000"/>
  <p:embeddedFontLst>
    <p:embeddedFont>
      <p:font typeface="Calibri (MS)" charset="1" panose="020F0502020204030204"/>
      <p:regular r:id="rId10"/>
    </p:embeddedFont>
    <p:embeddedFont>
      <p:font typeface="Calibri (MS) Italics" charset="1" panose="020F05020202040A0204"/>
      <p:regular r:id="rId11"/>
    </p:embeddedFont>
    <p:embeddedFont>
      <p:font typeface="Garet Bold" charset="1" panose="00000000000000000000"/>
      <p:regular r:id="rId12"/>
    </p:embeddedFont>
    <p:embeddedFont>
      <p:font typeface="Montaser Arabic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6590" y="8427446"/>
            <a:ext cx="29066100" cy="5020653"/>
            <a:chOff x="0" y="0"/>
            <a:chExt cx="38754800" cy="6694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754800" cy="6694204"/>
            </a:xfrm>
            <a:custGeom>
              <a:avLst/>
              <a:gdLst/>
              <a:ahLst/>
              <a:cxnLst/>
              <a:rect r="r" b="b" t="t" l="l"/>
              <a:pathLst>
                <a:path h="6694204" w="38754800">
                  <a:moveTo>
                    <a:pt x="0" y="0"/>
                  </a:moveTo>
                  <a:lnTo>
                    <a:pt x="38754800" y="0"/>
                  </a:lnTo>
                  <a:lnTo>
                    <a:pt x="38754800" y="6694204"/>
                  </a:lnTo>
                  <a:lnTo>
                    <a:pt x="0" y="66942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38754800" cy="677992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8639"/>
                </a:lnSpc>
              </a:pPr>
              <a:r>
                <a:rPr lang="en-US" sz="7999">
                  <a:solidFill>
                    <a:srgbClr val="00206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Comparações de parâmetros neuromusculares entre mulheres vegetarianas estritas e não vegetarianas: Um estudo transversal</a:t>
              </a:r>
            </a:p>
            <a:p>
              <a:pPr algn="ctr">
                <a:lnSpc>
                  <a:spcPts val="6047"/>
                </a:lnSpc>
              </a:pPr>
              <a:r>
                <a:rPr lang="en-US" sz="5599" i="true">
                  <a:solidFill>
                    <a:srgbClr val="494B5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Bruno Strey; Israel Dias Trapaga; Gabriela Lucciana Martini; Márcio Beck Schemes; Rodrigo Neske; Ronei Pinto</a:t>
              </a:r>
            </a:p>
            <a:p>
              <a:pPr algn="ctr">
                <a:lnSpc>
                  <a:spcPts val="6695"/>
                </a:lnSpc>
              </a:pPr>
              <a:r>
                <a:rPr lang="en-US" sz="6199" i="true">
                  <a:solidFill>
                    <a:srgbClr val="494B5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Universidade Federal do Rio Grande do Sul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33467" y="26332912"/>
            <a:ext cx="29167050" cy="546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2"/>
              </a:lnSpc>
            </a:pPr>
            <a:r>
              <a:rPr lang="en-US" sz="69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Resultados</a:t>
            </a:r>
          </a:p>
          <a:p>
            <a:pPr algn="l">
              <a:lnSpc>
                <a:spcPts val="7452"/>
              </a:lnSpc>
            </a:pPr>
            <a:r>
              <a:rPr lang="en-US" sz="69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 Não houve diferença significativa entre os grupos em nenhum parâmetro analisado (p &gt; 0,05). O tamanho de efeito foi considerado pequeno para PT concêntrico de EXT  (d = 0,24), PT concêntrico de FLEX  (d =0,049) e PT excêntrico de FLEX  (d = 0,15), e médio para CMJ (d = 0,415).</a:t>
            </a:r>
          </a:p>
        </p:txBody>
      </p:sp>
      <p:sp>
        <p:nvSpPr>
          <p:cNvPr name="AutoShape 6" id="6"/>
          <p:cNvSpPr/>
          <p:nvPr/>
        </p:nvSpPr>
        <p:spPr>
          <a:xfrm>
            <a:off x="1215885" y="19158371"/>
            <a:ext cx="29518725" cy="9525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215884" y="26001783"/>
            <a:ext cx="29518725" cy="9525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215885" y="32127099"/>
            <a:ext cx="29518671" cy="9525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15176725" y="19364000"/>
            <a:ext cx="86790" cy="6647308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5161914" y="32156635"/>
            <a:ext cx="9525" cy="5499864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1598391" y="539891"/>
            <a:ext cx="8126490" cy="4851930"/>
          </a:xfrm>
          <a:custGeom>
            <a:avLst/>
            <a:gdLst/>
            <a:ahLst/>
            <a:cxnLst/>
            <a:rect r="r" b="b" t="t" l="l"/>
            <a:pathLst>
              <a:path h="4851930" w="8126490">
                <a:moveTo>
                  <a:pt x="0" y="0"/>
                </a:moveTo>
                <a:lnTo>
                  <a:pt x="8126490" y="0"/>
                </a:lnTo>
                <a:lnTo>
                  <a:pt x="8126490" y="4851930"/>
                </a:lnTo>
                <a:lnTo>
                  <a:pt x="0" y="48519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47" t="-12286" r="-2210" b="-4166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-360541" y="-7450793"/>
            <a:ext cx="32755066" cy="11729712"/>
          </a:xfrm>
          <a:custGeom>
            <a:avLst/>
            <a:gdLst/>
            <a:ahLst/>
            <a:cxnLst/>
            <a:rect r="r" b="b" t="t" l="l"/>
            <a:pathLst>
              <a:path h="11729712" w="32755066">
                <a:moveTo>
                  <a:pt x="32755066" y="11729713"/>
                </a:moveTo>
                <a:lnTo>
                  <a:pt x="0" y="11729713"/>
                </a:lnTo>
                <a:lnTo>
                  <a:pt x="0" y="0"/>
                </a:lnTo>
                <a:lnTo>
                  <a:pt x="32755066" y="0"/>
                </a:lnTo>
                <a:lnTo>
                  <a:pt x="32755066" y="11729713"/>
                </a:lnTo>
                <a:close/>
              </a:path>
            </a:pathLst>
          </a:custGeom>
          <a:blipFill>
            <a:blip r:embed="rId4"/>
            <a:stretch>
              <a:fillRect l="0" t="0" r="0" b="-205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12075" y="13600498"/>
            <a:ext cx="30167799" cy="478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44"/>
              </a:lnSpc>
            </a:pPr>
            <a:r>
              <a:rPr lang="en-US" sz="68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Introdução</a:t>
            </a:r>
          </a:p>
          <a:p>
            <a:pPr algn="just">
              <a:lnSpc>
                <a:spcPts val="7344"/>
              </a:lnSpc>
            </a:pPr>
            <a:r>
              <a:rPr lang="en-US" sz="68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A dieta vegetariana estrita elimina o consumo de qualquer produto de origem animal. Riscos de deficiência de ferro, cálcio, zinco, vitamina D, vitamina B12 e aminoácidos estão associados à essa prática alimentar [1] e a redução desses nutrientes pode reduzir a performance atlética, tangenciando os aspectos neuromusculares. [2]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2075" y="19412670"/>
            <a:ext cx="13864650" cy="706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69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</a:t>
            </a:r>
          </a:p>
          <a:p>
            <a:pPr algn="l">
              <a:lnSpc>
                <a:spcPts val="6706"/>
              </a:lnSpc>
            </a:pPr>
            <a:r>
              <a:rPr lang="en-US" sz="69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Comparar o desempenho no salto vertical com contramovimento (CMJ) e a força dos músculos extensores (EXT) e flexores (FLEX) de joelhos em mulheres vegetarianas estritas (VE) e não vegetarianas (NV).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21775" y="19450770"/>
            <a:ext cx="13864650" cy="613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69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Metodologia</a:t>
            </a:r>
          </a:p>
          <a:p>
            <a:pPr algn="l">
              <a:lnSpc>
                <a:spcPts val="6706"/>
              </a:lnSpc>
            </a:pPr>
            <a:r>
              <a:rPr lang="en-US" sz="69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composta por 68 mulheres (29,6 ± 4,1 anos) padrão alimentar VE (N=35) ou NV (n=33) destreinadas em treino de força (6 meses)</a:t>
            </a:r>
          </a:p>
          <a:p>
            <a:pPr algn="l" marL="626297" indent="-313148" lvl="1">
              <a:lnSpc>
                <a:spcPts val="6706"/>
              </a:lnSpc>
              <a:buFont typeface="Arial"/>
              <a:buChar char="•"/>
            </a:pPr>
            <a:r>
              <a:rPr lang="en-US" sz="69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dinamômetro isocinético (60°/s)</a:t>
            </a:r>
          </a:p>
          <a:p>
            <a:pPr algn="l" marL="613410" indent="-306705" lvl="1">
              <a:lnSpc>
                <a:spcPts val="6706"/>
              </a:lnSpc>
              <a:buFont typeface="Arial"/>
              <a:buChar char="•"/>
            </a:pPr>
            <a:r>
              <a:rPr lang="en-US" sz="69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salto vertical CMJ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35124" y="32293787"/>
            <a:ext cx="15744750" cy="1040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0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Referências</a:t>
            </a:r>
          </a:p>
          <a:p>
            <a:pPr algn="l">
              <a:lnSpc>
                <a:spcPts val="5399"/>
              </a:lnSpc>
            </a:pPr>
            <a:r>
              <a:rPr lang="en-US" sz="4999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[1] - Maziarz, Barbara, et al. "Influence of vegan diet on physical performance of athletes." </a:t>
            </a:r>
            <a:r>
              <a:rPr lang="en-US" sz="4999" i="true">
                <a:solidFill>
                  <a:srgbClr val="00206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Journal of Education, Health and Sport</a:t>
            </a:r>
            <a:r>
              <a:rPr lang="en-US" sz="4999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 10.7 (2020): 209-215.</a:t>
            </a:r>
          </a:p>
          <a:p>
            <a:pPr algn="l">
              <a:lnSpc>
                <a:spcPts val="5399"/>
              </a:lnSpc>
            </a:pPr>
            <a:r>
              <a:rPr lang="en-US" sz="4999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[2] - Larpin C, Wozniak H, Genton L, Serratrice J. “Vegetarian and vegan diets and their impact on health”. Rev Med Suisse. 2019 Oct 16;15(667):1849-1853. French. PMID: 31617971.</a:t>
            </a:r>
          </a:p>
          <a:p>
            <a:pPr algn="l">
              <a:lnSpc>
                <a:spcPts val="151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391699" y="32198537"/>
            <a:ext cx="12911850" cy="1033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3"/>
              </a:lnSpc>
            </a:pPr>
            <a:r>
              <a:rPr lang="en-US" sz="70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Conclusão</a:t>
            </a:r>
          </a:p>
          <a:p>
            <a:pPr algn="l">
              <a:lnSpc>
                <a:spcPts val="6803"/>
              </a:lnSpc>
            </a:pPr>
            <a:r>
              <a:rPr lang="en-US" sz="70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 Em mulheres destreinadas em força, independente do padrão alimentar, indivíduos VE e NV parecem apresentar semelhante desempenho de força máxima isocinética e altura de saltos verticais.</a:t>
            </a:r>
          </a:p>
          <a:p>
            <a:pPr algn="l">
              <a:lnSpc>
                <a:spcPts val="1360"/>
              </a:lnSpc>
            </a:pPr>
          </a:p>
          <a:p>
            <a:pPr algn="l">
              <a:lnSpc>
                <a:spcPts val="136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55730" y="41854782"/>
            <a:ext cx="17262750" cy="328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8"/>
              </a:lnSpc>
            </a:pPr>
            <a:r>
              <a:rPr lang="en-US" sz="5599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Contato: brunostrey@hotmail.com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07631" y="6811660"/>
            <a:ext cx="8092196" cy="113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b="true" sz="2794">
                <a:solidFill>
                  <a:srgbClr val="4C7687"/>
                </a:solidFill>
                <a:latin typeface="Garet Bold"/>
                <a:ea typeface="Garet Bold"/>
                <a:cs typeface="Garet Bold"/>
                <a:sym typeface="Garet Bold"/>
              </a:rPr>
              <a:t>III SYMPOSIUM ON NEUROPHYSIOLOGY AND NEUROMODULATION IN SPORT, EXERCISE AND MOTOR REHABILITATION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68544" y="4878995"/>
            <a:ext cx="8333160" cy="199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19"/>
              </a:lnSpc>
            </a:pPr>
            <a:r>
              <a:rPr lang="en-US" sz="11657">
                <a:solidFill>
                  <a:srgbClr val="446E7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III SNNSEM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-180270" y="40022215"/>
            <a:ext cx="32755066" cy="11729712"/>
          </a:xfrm>
          <a:custGeom>
            <a:avLst/>
            <a:gdLst/>
            <a:ahLst/>
            <a:cxnLst/>
            <a:rect r="r" b="b" t="t" l="l"/>
            <a:pathLst>
              <a:path h="11729712" w="32755066">
                <a:moveTo>
                  <a:pt x="0" y="0"/>
                </a:moveTo>
                <a:lnTo>
                  <a:pt x="32755065" y="0"/>
                </a:lnTo>
                <a:lnTo>
                  <a:pt x="32755065" y="11729713"/>
                </a:lnTo>
                <a:lnTo>
                  <a:pt x="0" y="11729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05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DAG4mZTLsk0</dc:identifier>
  <dcterms:modified xsi:type="dcterms:W3CDTF">2011-08-01T06:04:30Z</dcterms:modified>
  <cp:revision>1</cp:revision>
  <dc:title>SNNSEM POSTER TEMPLATE</dc:title>
</cp:coreProperties>
</file>